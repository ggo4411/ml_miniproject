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10515600" cy="1463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3000" b="1">
                <a:solidFill>
                  <a:srgbClr val="FFFFFF"/>
                </a:solidFill>
                <a:latin typeface="Aptos"/>
              </a:rPr>
              <a:t>APPLICATION OF MACHINE LEARNING METHODS
TO PREDICT BUILDING DAMAGE LEVELS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987552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100" b="0">
                <a:solidFill>
                  <a:srgbClr val="AED2E0"/>
                </a:solidFill>
                <a:latin typeface="Aptos"/>
              </a:rPr>
              <a:t>Nepal Earthquake Building Damage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4983480"/>
            <a:ext cx="8686800" cy="4572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Machine Learning Mini-Project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5532120"/>
            <a:ext cx="9601200" cy="240066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>
              <a:spcAft>
                <a:spcPts val="300"/>
              </a:spcAft>
            </a:pPr>
            <a:r>
              <a:rPr sz="1200" b="0" dirty="0">
                <a:solidFill>
                  <a:srgbClr val="EEF4F9"/>
                </a:solidFill>
                <a:latin typeface="Aptos"/>
              </a:rPr>
              <a:t>Name: </a:t>
            </a:r>
            <a:r>
              <a:rPr lang="en-US" sz="1200" dirty="0">
                <a:solidFill>
                  <a:srgbClr val="EEF4F9"/>
                </a:solidFill>
                <a:latin typeface="Aptos"/>
              </a:rPr>
              <a:t>Gandhar, Chetana</a:t>
            </a:r>
            <a:r>
              <a:rPr sz="1200" b="0" dirty="0">
                <a:solidFill>
                  <a:srgbClr val="EEF4F9"/>
                </a:solidFill>
                <a:latin typeface="Aptos"/>
              </a:rPr>
              <a:t>   |   Student ID: </a:t>
            </a:r>
            <a:r>
              <a:rPr lang="en-US" sz="1200" dirty="0">
                <a:solidFill>
                  <a:srgbClr val="EEF4F9"/>
                </a:solidFill>
                <a:latin typeface="Aptos"/>
              </a:rPr>
              <a:t>PES1UG24CS167, PES1UG24CS130</a:t>
            </a:r>
            <a:endParaRPr sz="1200" b="0" dirty="0">
              <a:solidFill>
                <a:srgbClr val="EEF4F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2744"/>
                </a:solidFill>
                <a:latin typeface="Aptos"/>
              </a:rPr>
              <a:t>Problem Statement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B78"/>
                </a:solidFill>
                <a:latin typeface="Aptos"/>
              </a:rPr>
              <a:t>Predict one of three damage grades from recorded building characteristics.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12064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784"/>
                </a:solidFill>
                <a:latin typeface="Aptos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937760" cy="1508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200" b="1" dirty="0">
                <a:solidFill>
                  <a:srgbClr val="162744"/>
                </a:solidFill>
                <a:latin typeface="Aptos"/>
              </a:rPr>
              <a:t>Use supervised machine learning to classify buildings into damage grades 1, 2, or 3 following the 2015 Nepal earthquake.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63040"/>
            <a:ext cx="493776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784"/>
                </a:solidFill>
                <a:latin typeface="Aptos"/>
              </a:rPr>
              <a:t>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874519"/>
            <a:ext cx="5029200" cy="347472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Validate and explore the dataset</a:t>
            </a:r>
          </a:p>
          <a:p>
            <a:pPr>
              <a:spcAft>
                <a:spcPts val="12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Build a baseline classifier</a:t>
            </a:r>
          </a:p>
          <a:p>
            <a:pPr>
              <a:spcAft>
                <a:spcPts val="12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Compare tree-ensemble models</a:t>
            </a:r>
          </a:p>
          <a:p>
            <a:pPr>
              <a:spcAft>
                <a:spcPts val="12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Interpret model feature importance</a:t>
            </a:r>
          </a:p>
          <a:p>
            <a:pPr>
              <a:spcAft>
                <a:spcPts val="12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Generate predictions for test buildings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2744"/>
                </a:solidFill>
                <a:latin typeface="Aptos"/>
              </a:rP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B78"/>
                </a:solidFill>
                <a:latin typeface="Aptos"/>
              </a:rPr>
              <a:t>Four CSV files supplied with the Nepal Earthquake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123444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554480"/>
            <a:ext cx="2340863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1F8784"/>
                </a:solidFill>
                <a:latin typeface="Aptos"/>
              </a:rPr>
              <a:t>260,601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057400"/>
            <a:ext cx="2340863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Labelled training 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63040"/>
            <a:ext cx="2560320" cy="123444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84448" y="1554480"/>
            <a:ext cx="2340863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1F8784"/>
                </a:solidFill>
                <a:latin typeface="Aptos"/>
              </a:rPr>
              <a:t>86,868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84448" y="2057400"/>
            <a:ext cx="2340863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Test buildings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2560320" cy="123444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7648" y="1554480"/>
            <a:ext cx="2340863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1F8784"/>
                </a:solidFill>
                <a:latin typeface="Aptos"/>
              </a:rPr>
              <a:t>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057400"/>
            <a:ext cx="2340863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Feature columns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463040"/>
            <a:ext cx="2468880" cy="123444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70848" y="1554480"/>
            <a:ext cx="224942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1F8784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70848" y="2057400"/>
            <a:ext cx="2249424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Damage grades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154680"/>
            <a:ext cx="521208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784"/>
                </a:solidFill>
                <a:latin typeface="Aptos"/>
              </a:rPr>
              <a:t>INPUT FILES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566160"/>
            <a:ext cx="5212080" cy="210312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train_values.csv — training features</a:t>
            </a:r>
          </a:p>
          <a:p>
            <a:pPr>
              <a:spcAft>
                <a:spcPts val="7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train_labels.csv — damage_grade target</a:t>
            </a:r>
          </a:p>
          <a:p>
            <a:pPr>
              <a:spcAft>
                <a:spcPts val="7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test_values.csv — buildings to predict</a:t>
            </a:r>
          </a:p>
          <a:p>
            <a:pPr>
              <a:spcAft>
                <a:spcPts val="7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submission_format.csv — output template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154680"/>
            <a:ext cx="493776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784"/>
                </a:solidFill>
                <a:latin typeface="Aptos"/>
              </a:rPr>
              <a:t>TARGET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6160"/>
            <a:ext cx="4754880" cy="228600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Grade 1: 25,124 (9.64%)</a:t>
            </a:r>
          </a:p>
          <a:p>
            <a:pPr>
              <a:spcAft>
                <a:spcPts val="12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Grade 2: 148,259 (56.89%)</a:t>
            </a:r>
          </a:p>
          <a:p>
            <a:pPr>
              <a:spcAft>
                <a:spcPts val="12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Grade 3: 87,218 (33.47%)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2744"/>
                </a:solidFill>
                <a:latin typeface="Aptos"/>
              </a:rPr>
              <a:t>Exploratory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B78"/>
                </a:solidFill>
                <a:latin typeface="Aptos"/>
              </a:rPr>
              <a:t>Data checks and patterns examined before model training.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5303520" cy="429768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Training labels aligned with features using building_id.</a:t>
            </a:r>
          </a:p>
          <a:p>
            <a:pPr>
              <a:spcAft>
                <a:spcPts val="11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No missing feature values or missing labels were found.</a:t>
            </a:r>
          </a:p>
          <a:p>
            <a:pPr>
              <a:spcAft>
                <a:spcPts val="11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16,191 duplicate feature rows were retained; different buildings can share attributes.</a:t>
            </a:r>
          </a:p>
          <a:p>
            <a:pPr>
              <a:spcAft>
                <a:spcPts val="11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Foundation type was compared with damage-grade proportions.</a:t>
            </a:r>
          </a:p>
          <a:p>
            <a:pPr>
              <a:spcAft>
                <a:spcPts val="11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Building age included unusual values, including age = 995.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2286000" cy="214884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37960" y="2148840"/>
            <a:ext cx="201168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8784"/>
                </a:solidFill>
                <a:latin typeface="Aptos"/>
              </a:rPr>
              <a:t>INSERT SCREENSHOT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37960" y="2743200"/>
            <a:ext cx="201168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2744"/>
                </a:solidFill>
                <a:latin typeface="Aptos"/>
              </a:rPr>
              <a:t>Damage grade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1645920"/>
            <a:ext cx="2286000" cy="214884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0" y="2148840"/>
            <a:ext cx="201168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1F8784"/>
                </a:solidFill>
                <a:latin typeface="Aptos"/>
              </a:rPr>
              <a:t>INSERT SCREENSHOT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743200"/>
            <a:ext cx="2011680" cy="6400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200" b="0">
                <a:solidFill>
                  <a:srgbClr val="162744"/>
                </a:solidFill>
                <a:latin typeface="Aptos"/>
              </a:rPr>
              <a:t>Foundation type / damage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4846320" cy="10058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5F6B78"/>
                </a:solidFill>
                <a:latin typeface="Aptos"/>
              </a:rPr>
              <a:t>Replace placeholders with screenshots from your Kaggle notebook if required.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2744"/>
                </a:solidFill>
                <a:latin typeface="Aptos"/>
              </a:rPr>
              <a:t>Methodology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B78"/>
                </a:solidFill>
                <a:latin typeface="Aptos"/>
              </a:rPr>
              <a:t>Stratified validation and preprocessing within scikit-learn pipelines.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28800"/>
            <a:ext cx="1828800" cy="1051560"/>
          </a:xfrm>
          <a:prstGeom prst="roundRect">
            <a:avLst/>
          </a:prstGeom>
          <a:solidFill>
            <a:srgbClr val="EEF4F9"/>
          </a:solidFill>
          <a:ln>
            <a:solidFill>
              <a:srgbClr val="2B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19" y="2057400"/>
            <a:ext cx="1645920" cy="5486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744"/>
                </a:solidFill>
                <a:latin typeface="Aptos"/>
              </a:rPr>
              <a:t>Dataset
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828800"/>
            <a:ext cx="1828800" cy="1051560"/>
          </a:xfrm>
          <a:prstGeom prst="roundRect">
            <a:avLst/>
          </a:prstGeom>
          <a:solidFill>
            <a:srgbClr val="EEF4F9"/>
          </a:solidFill>
          <a:ln>
            <a:solidFill>
              <a:srgbClr val="2B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71800" y="2057400"/>
            <a:ext cx="1645920" cy="5486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744"/>
                </a:solidFill>
                <a:latin typeface="Aptos"/>
              </a:rPr>
              <a:t>ID-based label
alignment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1828800"/>
            <a:ext cx="1828800" cy="1051560"/>
          </a:xfrm>
          <a:prstGeom prst="roundRect">
            <a:avLst/>
          </a:prstGeom>
          <a:solidFill>
            <a:srgbClr val="EEF4F9"/>
          </a:solidFill>
          <a:ln>
            <a:solidFill>
              <a:srgbClr val="2B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12079" y="2057400"/>
            <a:ext cx="1645920" cy="5486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744"/>
                </a:solidFill>
                <a:latin typeface="Aptos"/>
              </a:rPr>
              <a:t>80:20 stratified
split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1828800"/>
            <a:ext cx="1828800" cy="1051560"/>
          </a:xfrm>
          <a:prstGeom prst="roundRect">
            <a:avLst/>
          </a:prstGeom>
          <a:solidFill>
            <a:srgbClr val="EEF4F9"/>
          </a:solidFill>
          <a:ln>
            <a:solidFill>
              <a:srgbClr val="2B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52360" y="2057400"/>
            <a:ext cx="1645920" cy="5486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744"/>
                </a:solidFill>
                <a:latin typeface="Aptos"/>
              </a:rPr>
              <a:t>One-hot encoding
+ numeric passthrough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0" y="1828800"/>
            <a:ext cx="1828800" cy="1051560"/>
          </a:xfrm>
          <a:prstGeom prst="roundRect">
            <a:avLst/>
          </a:prstGeom>
          <a:solidFill>
            <a:srgbClr val="EEF4F9"/>
          </a:solidFill>
          <a:ln>
            <a:solidFill>
              <a:srgbClr val="2B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92640" y="2057400"/>
            <a:ext cx="1645920" cy="54864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162744"/>
                </a:solidFill>
                <a:latin typeface="Aptos"/>
              </a:rPr>
              <a:t>Classifier
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121408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8784"/>
                </a:solidFill>
                <a:latin typeface="Aptos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2121408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8784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13448" y="2121408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8784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3728" y="2121408"/>
            <a:ext cx="2743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200" b="1">
                <a:solidFill>
                  <a:srgbClr val="1F8784"/>
                </a:solidFill>
                <a:latin typeface="Apto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657600"/>
            <a:ext cx="10241280" cy="192024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building_id used for alignment/output, not as a predictive feature.</a:t>
            </a:r>
          </a:p>
          <a:p>
            <a:pPr>
              <a:spcAft>
                <a:spcPts val="8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Geographic identifiers treated as categorical codes.</a:t>
            </a:r>
          </a:p>
          <a:p>
            <a:pPr>
              <a:spcAft>
                <a:spcPts val="8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Baseline: Random Forest with 100 trees; random_state=42; n_jobs=-1.</a:t>
            </a:r>
          </a:p>
          <a:p>
            <a:pPr>
              <a:spcAft>
                <a:spcPts val="8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Metrics: accuracy, macro F1, weighted F1, per-class report and confusion matrix.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2744"/>
                </a:solidFill>
                <a:latin typeface="Aptos"/>
              </a:rPr>
              <a:t>Baseline Model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B78"/>
                </a:solidFill>
                <a:latin typeface="Aptos"/>
              </a:rPr>
              <a:t>Held-out validation set: 52,121 buildings.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2926080" cy="141732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645920"/>
            <a:ext cx="270662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1F8784"/>
                </a:solidFill>
                <a:latin typeface="Aptos"/>
              </a:rPr>
              <a:t>73.19%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148840"/>
            <a:ext cx="2706624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Accuracy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554480"/>
            <a:ext cx="2926080" cy="1417320"/>
          </a:xfrm>
          <a:prstGeom prst="roundRect">
            <a:avLst/>
          </a:prstGeom>
          <a:solidFill>
            <a:srgbClr val="EEF4F9"/>
          </a:solidFill>
          <a:ln>
            <a:solidFill>
              <a:srgbClr val="2B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7448" y="1645920"/>
            <a:ext cx="270662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2B6499"/>
                </a:solidFill>
                <a:latin typeface="Aptos"/>
              </a:rPr>
              <a:t>0.6801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148840"/>
            <a:ext cx="2706624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Macro F1-score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554480"/>
            <a:ext cx="2926080" cy="141732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0767" y="1645920"/>
            <a:ext cx="270662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1F8784"/>
                </a:solidFill>
                <a:latin typeface="Aptos"/>
              </a:rPr>
              <a:t>0.7277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7" y="2148840"/>
            <a:ext cx="2706624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Weighted F1-score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57200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784"/>
                </a:solidFill>
                <a:latin typeface="Aptos"/>
              </a:rPr>
              <a:t>CLASS-WISE F1-SCORES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69080"/>
            <a:ext cx="4389120" cy="155448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Grade 1: 0.5796</a:t>
            </a:r>
          </a:p>
          <a:p>
            <a:pPr>
              <a:spcAft>
                <a:spcPts val="7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Grade 2: 0.7808</a:t>
            </a:r>
          </a:p>
          <a:p>
            <a:pPr>
              <a:spcAft>
                <a:spcPts val="700"/>
              </a:spcAft>
              <a:defRPr sz="1700">
                <a:solidFill>
                  <a:srgbClr val="28313C"/>
                </a:solidFill>
                <a:latin typeface="Aptos"/>
              </a:defRPr>
            </a:pPr>
            <a:r>
              <a:t>Grade 3: 0.6801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474720"/>
            <a:ext cx="4754880" cy="1645920"/>
          </a:xfrm>
          <a:prstGeom prst="roundRect">
            <a:avLst/>
          </a:prstGeom>
          <a:solidFill>
            <a:srgbClr val="EEF4F9"/>
          </a:solidFill>
          <a:ln>
            <a:solidFill>
              <a:srgbClr val="2B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3749039"/>
            <a:ext cx="4206240" cy="109728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700" b="1">
                <a:solidFill>
                  <a:srgbClr val="162744"/>
                </a:solidFill>
                <a:latin typeface="Aptos"/>
              </a:rPr>
              <a:t>Main observation:
Grade 2 is predicted most reliably. Grade 1 is frequently confused with Grade 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2744"/>
                </a:solidFill>
                <a:latin typeface="Aptos"/>
              </a:rPr>
              <a:t>Model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B78"/>
                </a:solidFill>
                <a:latin typeface="Aptos"/>
              </a:rPr>
              <a:t>Random Forest and Extra Trees trained on the same 52,120-row sample.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73152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73152" marR="73152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Macro F1</a:t>
                      </a:r>
                    </a:p>
                  </a:txBody>
                  <a:tcPr marL="73152" marR="73152">
                    <a:solidFill>
                      <a:srgbClr val="16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Weighted F1</a:t>
                      </a:r>
                    </a:p>
                  </a:txBody>
                  <a:tcPr marL="73152" marR="73152">
                    <a:solidFill>
                      <a:srgbClr val="16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Random Forest (sample)</a:t>
                      </a:r>
                    </a:p>
                  </a:txBody>
                  <a:tcPr marL="73152" marR="73152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0.6532</a:t>
                      </a:r>
                    </a:p>
                  </a:txBody>
                  <a:tcPr marL="73152" marR="73152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0.4687</a:t>
                      </a:r>
                    </a:p>
                  </a:txBody>
                  <a:tcPr marL="73152" marR="73152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0.5914</a:t>
                      </a:r>
                    </a:p>
                  </a:txBody>
                  <a:tcPr marL="73152" marR="73152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Extra Trees (sample)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0.6479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0.4548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0.5787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Baseline RF (full split)</a:t>
                      </a:r>
                    </a:p>
                  </a:txBody>
                  <a:tcPr marL="73152" marR="73152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0.7319</a:t>
                      </a:r>
                    </a:p>
                  </a:txBody>
                  <a:tcPr marL="73152" marR="73152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0.6801</a:t>
                      </a:r>
                    </a:p>
                  </a:txBody>
                  <a:tcPr marL="73152" marR="73152">
                    <a:solidFill>
                      <a:srgbClr val="EE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13C"/>
                          </a:solidFill>
                          <a:latin typeface="Aptos"/>
                        </a:defRPr>
                      </a:pPr>
                      <a:r>
                        <a:t>0.7277</a:t>
                      </a:r>
                    </a:p>
                  </a:txBody>
                  <a:tcPr marL="73152" marR="73152">
                    <a:solidFill>
                      <a:srgbClr val="EEF4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160520"/>
            <a:ext cx="10058400" cy="114300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0">
                <a:solidFill>
                  <a:srgbClr val="28313C"/>
                </a:solidFill>
                <a:latin typeface="Aptos"/>
              </a:rPr>
              <a:t>Interpretation: sampled Random Forest slightly outperformed sampled Extra Trees. The full-split baseline is shown for context only; it used four times as many training examples and is not a like-for-like comparison.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2744"/>
                </a:solidFill>
                <a:latin typeface="Aptos"/>
              </a:rPr>
              <a:t>Feature Importance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B78"/>
                </a:solidFill>
                <a:latin typeface="Aptos"/>
              </a:rPr>
              <a:t>Aggregated impurity-based importance from the baseline Random Forest.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237744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2744"/>
                </a:solidFill>
                <a:latin typeface="Aptos"/>
              </a:rPr>
              <a:t>geo_level_3_id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520" y="1481328"/>
            <a:ext cx="5943600" cy="256032"/>
          </a:xfrm>
          <a:prstGeom prst="round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7520" y="1481328"/>
            <a:ext cx="5777179" cy="256032"/>
          </a:xfrm>
          <a:prstGeom prst="roundRect">
            <a:avLst/>
          </a:prstGeom>
          <a:solidFill>
            <a:srgbClr val="1F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0" y="1435608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8313C"/>
                </a:solidFill>
                <a:latin typeface="Aptos"/>
              </a:rPr>
              <a:t>0.2430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237744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2744"/>
                </a:solidFill>
                <a:latin typeface="Aptos"/>
              </a:rPr>
              <a:t>geo_level_2_id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17520" y="2240280"/>
            <a:ext cx="5943600" cy="256032"/>
          </a:xfrm>
          <a:prstGeom prst="round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017520" y="2240280"/>
            <a:ext cx="4170029" cy="256032"/>
          </a:xfrm>
          <a:prstGeom prst="roundRect">
            <a:avLst/>
          </a:prstGeom>
          <a:solidFill>
            <a:srgbClr val="1F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2194560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8313C"/>
                </a:solidFill>
                <a:latin typeface="Aptos"/>
              </a:rPr>
              <a:t>0.1754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980944"/>
            <a:ext cx="237744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2744"/>
                </a:solidFill>
                <a:latin typeface="Aptos"/>
              </a:rPr>
              <a:t>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999232"/>
            <a:ext cx="5943600" cy="256032"/>
          </a:xfrm>
          <a:prstGeom prst="round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017520" y="2999232"/>
            <a:ext cx="2719791" cy="256032"/>
          </a:xfrm>
          <a:prstGeom prst="roundRect">
            <a:avLst/>
          </a:prstGeom>
          <a:solidFill>
            <a:srgbClr val="1F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0" y="2953512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8313C"/>
                </a:solidFill>
                <a:latin typeface="Aptos"/>
              </a:rPr>
              <a:t>0.1144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39896"/>
            <a:ext cx="237744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2744"/>
                </a:solidFill>
                <a:latin typeface="Aptos"/>
              </a:rPr>
              <a:t>geo_level_1_id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3758183"/>
            <a:ext cx="5943600" cy="256032"/>
          </a:xfrm>
          <a:prstGeom prst="round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017520" y="3758183"/>
            <a:ext cx="2337023" cy="256032"/>
          </a:xfrm>
          <a:prstGeom prst="roundRect">
            <a:avLst/>
          </a:prstGeom>
          <a:solidFill>
            <a:srgbClr val="1F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0" y="3712463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8313C"/>
                </a:solidFill>
                <a:latin typeface="Aptos"/>
              </a:rPr>
              <a:t>0.0983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98848"/>
            <a:ext cx="237744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2744"/>
                </a:solidFill>
                <a:latin typeface="Aptos"/>
              </a:rPr>
              <a:t>area_percentage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4517136"/>
            <a:ext cx="5943600" cy="256032"/>
          </a:xfrm>
          <a:prstGeom prst="roundRect">
            <a:avLst/>
          </a:prstGeom>
          <a:solidFill>
            <a:srgbClr val="EEF4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017520" y="4517136"/>
            <a:ext cx="2275210" cy="256032"/>
          </a:xfrm>
          <a:prstGeom prst="roundRect">
            <a:avLst/>
          </a:prstGeom>
          <a:solidFill>
            <a:srgbClr val="1F87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0" y="4471416"/>
            <a:ext cx="1280160" cy="32004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28313C"/>
                </a:solidFill>
                <a:latin typeface="Aptos"/>
              </a:rPr>
              <a:t>0.0957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486400"/>
            <a:ext cx="105156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0">
                <a:solidFill>
                  <a:srgbClr val="5F6B78"/>
                </a:solidFill>
                <a:latin typeface="Aptos"/>
              </a:rPr>
              <a:t>Geographic identifiers, age and area percentage contributed most to model splits. Importance is not causal evidence and may favour high-cardinality features.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2744"/>
                </a:solidFill>
                <a:latin typeface="Aptos"/>
              </a:rPr>
              <a:t>Final Test Predictions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B78"/>
                </a:solidFill>
                <a:latin typeface="Aptos"/>
              </a:rPr>
              <a:t>Prediction export completed using the fitted baseline Random Forest.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2926080" cy="132588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1554480"/>
            <a:ext cx="270662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1F8784"/>
                </a:solidFill>
                <a:latin typeface="Aptos"/>
              </a:rPr>
              <a:t>86,868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2057400"/>
            <a:ext cx="2706624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Predicted test 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463040"/>
            <a:ext cx="2926080" cy="1325880"/>
          </a:xfrm>
          <a:prstGeom prst="roundRect">
            <a:avLst/>
          </a:prstGeom>
          <a:solidFill>
            <a:srgbClr val="EEF4F9"/>
          </a:solidFill>
          <a:ln>
            <a:solidFill>
              <a:srgbClr val="2B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727448" y="1554480"/>
            <a:ext cx="270662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2B6499"/>
                </a:solidFill>
                <a:latin typeface="Aptos"/>
              </a:rPr>
              <a:t>2 columns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7448" y="2057400"/>
            <a:ext cx="2706624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building_id + damage_grade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463040"/>
            <a:ext cx="2926080" cy="1325880"/>
          </a:xfrm>
          <a:prstGeom prst="roundRect">
            <a:avLst/>
          </a:prstGeom>
          <a:solidFill>
            <a:srgbClr val="EEF4F9"/>
          </a:solidFill>
          <a:ln>
            <a:solidFill>
              <a:srgbClr val="1F87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30767" y="1554480"/>
            <a:ext cx="2706624" cy="438912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2500" b="1">
                <a:solidFill>
                  <a:srgbClr val="1F8784"/>
                </a:solidFill>
                <a:latin typeface="Aptos"/>
              </a:rPr>
              <a:t>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30767" y="2057400"/>
            <a:ext cx="2706624" cy="384048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1100" b="1">
                <a:solidFill>
                  <a:srgbClr val="162744"/>
                </a:solidFill>
                <a:latin typeface="Aptos"/>
              </a:rPr>
              <a:t>nepal_earthquake_submission.csv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337560"/>
            <a:ext cx="4754880" cy="4114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784"/>
                </a:solidFill>
                <a:latin typeface="Aptos"/>
              </a:rPr>
              <a:t>PREDICTED CLASS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49039"/>
            <a:ext cx="4389120" cy="155448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Grade 1: 6,545 (7.54%)</a:t>
            </a:r>
          </a:p>
          <a:p>
            <a:pPr>
              <a:spcAft>
                <a:spcPts val="7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Grade 2: 55,332 (63.69%)</a:t>
            </a:r>
          </a:p>
          <a:p>
            <a:pPr>
              <a:spcAft>
                <a:spcPts val="700"/>
              </a:spcAft>
              <a:defRPr sz="1600">
                <a:solidFill>
                  <a:srgbClr val="28313C"/>
                </a:solidFill>
                <a:latin typeface="Aptos"/>
              </a:defRPr>
            </a:pPr>
            <a:r>
              <a:t>Grade 3: 24,991 (28.77%)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383280"/>
            <a:ext cx="4846320" cy="1508760"/>
          </a:xfrm>
          <a:prstGeom prst="roundRect">
            <a:avLst/>
          </a:prstGeom>
          <a:solidFill>
            <a:srgbClr val="EEF4F9"/>
          </a:solidFill>
          <a:ln>
            <a:solidFill>
              <a:srgbClr val="2B64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17920" y="3657600"/>
            <a:ext cx="4297680" cy="914400"/>
          </a:xfrm>
          <a:prstGeom prst="rect">
            <a:avLst/>
          </a:prstGeom>
          <a:noFill/>
        </p:spPr>
        <p:txBody>
          <a:bodyPr wrap="square" lIns="36576" tIns="27432" rIns="36576" bIns="27432" anchor="ctr">
            <a:spAutoFit/>
          </a:bodyPr>
          <a:lstStyle/>
          <a:p>
            <a:pPr algn="ctr">
              <a:spcAft>
                <a:spcPts val="300"/>
              </a:spcAft>
            </a:pPr>
            <a:r>
              <a:rPr sz="1500" b="1">
                <a:solidFill>
                  <a:srgbClr val="162744"/>
                </a:solidFill>
                <a:latin typeface="Aptos"/>
              </a:rPr>
              <a:t>Output: /kaggle/working/nepal_earthquake_submission.csv
Test labels unavailable; test accuracy unknown.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2800" b="1">
                <a:solidFill>
                  <a:srgbClr val="162744"/>
                </a:solidFill>
                <a:latin typeface="Aptos"/>
              </a:rPr>
              <a:t>Conclusion, Limitations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5F6B78"/>
                </a:solidFill>
                <a:latin typeface="Aptos"/>
              </a:rPr>
              <a:t>What the experiments show and what could be improved.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49377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784"/>
                </a:solidFill>
                <a:latin typeface="Aptos"/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83080"/>
            <a:ext cx="4937760" cy="356616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Baseline Random Forest achieved 73.19% validation accuracy.</a:t>
            </a:r>
          </a:p>
          <a:p>
            <a:pPr>
              <a:spcAft>
                <a:spcPts val="10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Macro F1 of 0.6801 reflects uneven performance across classes.</a:t>
            </a:r>
          </a:p>
          <a:p>
            <a:pPr>
              <a:spcAft>
                <a:spcPts val="10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Geographic IDs, age and area percentage ranked highly in feature importance.</a:t>
            </a:r>
          </a:p>
          <a:p>
            <a:pPr>
              <a:spcAft>
                <a:spcPts val="10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Test predictions were exported successfully.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417320"/>
            <a:ext cx="4937760" cy="36576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F8784"/>
                </a:solidFill>
                <a:latin typeface="Aptos"/>
              </a:rPr>
              <a:t>LIMITATIONS /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783080"/>
            <a:ext cx="5029200" cy="3566160"/>
          </a:xfrm>
          <a:prstGeom prst="rect">
            <a:avLst/>
          </a:prstGeom>
          <a:noFill/>
        </p:spPr>
        <p:txBody>
          <a:bodyPr wrap="square" lIns="73152" tIns="27432" rIns="45720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Class imbalance and confusion between adjacent grades.</a:t>
            </a:r>
          </a:p>
          <a:p>
            <a:pPr>
              <a:spcAft>
                <a:spcPts val="10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Unusually high recorded ages require careful interpretation.</a:t>
            </a:r>
          </a:p>
          <a:p>
            <a:pPr>
              <a:spcAft>
                <a:spcPts val="10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Impurity-based importance is not causal.</a:t>
            </a:r>
          </a:p>
          <a:p>
            <a:pPr>
              <a:spcAft>
                <a:spcPts val="1000"/>
              </a:spcAft>
              <a:defRPr sz="1500">
                <a:solidFill>
                  <a:srgbClr val="28313C"/>
                </a:solidFill>
                <a:latin typeface="Aptos"/>
              </a:defRPr>
            </a:pPr>
            <a:r>
              <a:t>Future work: class weighting, controlled tuning and permutation importance.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8200" y="3063240"/>
            <a:ext cx="10515600" cy="73152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ctr">
              <a:spcAft>
                <a:spcPts val="300"/>
              </a:spcAft>
            </a:pPr>
            <a:r>
              <a:rPr sz="3600" b="1" dirty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987552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NEPAL EARTHQUAKE • BUILDING DAMAGE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92240"/>
            <a:ext cx="548640" cy="182880"/>
          </a:xfrm>
          <a:prstGeom prst="rect">
            <a:avLst/>
          </a:prstGeom>
          <a:noFill/>
        </p:spPr>
        <p:txBody>
          <a:bodyPr wrap="square" lIns="36576" tIns="27432" rIns="36576" bIns="27432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800" b="0">
                <a:solidFill>
                  <a:srgbClr val="5F6B7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806</Words>
  <Application>Microsoft Office PowerPoint</Application>
  <PresentationFormat>Widescreen</PresentationFormat>
  <Paragraphs>153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Gandhar Gokhale</cp:lastModifiedBy>
  <cp:revision>3</cp:revision>
  <dcterms:created xsi:type="dcterms:W3CDTF">2013-01-27T09:14:16Z</dcterms:created>
  <dcterms:modified xsi:type="dcterms:W3CDTF">2026-10-14T01:11:16Z</dcterms:modified>
  <cp:category/>
</cp:coreProperties>
</file>